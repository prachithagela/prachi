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86" y="67"/>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gs" Target="tags/tag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3.xml" /></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4.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image" Target="../media/image1.png" /><Relationship Id="rId4" Type="http://schemas.openxmlformats.org/officeDocument/2006/relationships/tags" Target="../tags/tag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notesSlide" Target="../notesSlides/notesSlide1.xml" /><Relationship Id="rId7" Type="http://schemas.openxmlformats.org/officeDocument/2006/relationships/image" Target="../media/image5.png" /><Relationship Id="rId2" Type="http://schemas.openxmlformats.org/officeDocument/2006/relationships/slideLayout" Target="../slideLayouts/slideLayout2.xml" /><Relationship Id="rId1" Type="http://schemas.openxmlformats.org/officeDocument/2006/relationships/tags" Target="../tags/tag5.xml" /><Relationship Id="rId6" Type="http://schemas.openxmlformats.org/officeDocument/2006/relationships/image" Target="../media/image4.png" /><Relationship Id="rId5" Type="http://schemas.openxmlformats.org/officeDocument/2006/relationships/image" Target="../media/image3.svg" /><Relationship Id="rId10" Type="http://schemas.openxmlformats.org/officeDocument/2006/relationships/image" Target="../media/image8.png" /><Relationship Id="rId4" Type="http://schemas.openxmlformats.org/officeDocument/2006/relationships/image" Target="../media/image2.png" /><Relationship Id="rId9" Type="http://schemas.openxmlformats.org/officeDocument/2006/relationships/image" Target="../media/image7.PNG" /></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 /><Relationship Id="rId2" Type="http://schemas.openxmlformats.org/officeDocument/2006/relationships/slideLayout" Target="../slideLayouts/slideLayout1.xml" /><Relationship Id="rId1" Type="http://schemas.openxmlformats.org/officeDocument/2006/relationships/tags" Target="../tags/tag6.xml" /><Relationship Id="rId4" Type="http://schemas.openxmlformats.org/officeDocument/2006/relationships/image" Target="../media/image9.png" /></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 /><Relationship Id="rId2" Type="http://schemas.openxmlformats.org/officeDocument/2006/relationships/slideLayout" Target="../slideLayouts/slideLayout1.xml" /><Relationship Id="rId1" Type="http://schemas.openxmlformats.org/officeDocument/2006/relationships/tags" Target="../tags/tag7.xml" /><Relationship Id="rId5" Type="http://schemas.openxmlformats.org/officeDocument/2006/relationships/image" Target="../media/image11.svg" /><Relationship Id="rId4" Type="http://schemas.openxmlformats.org/officeDocument/2006/relationships/image" Target="../media/image10.png" /></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 /><Relationship Id="rId2" Type="http://schemas.openxmlformats.org/officeDocument/2006/relationships/slideLayout" Target="../slideLayouts/slideLayout1.xml" /><Relationship Id="rId1" Type="http://schemas.openxmlformats.org/officeDocument/2006/relationships/tags" Target="../tags/tag8.xml" /><Relationship Id="rId4" Type="http://schemas.openxmlformats.org/officeDocument/2006/relationships/image" Target="../media/image12.png" /></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 /><Relationship Id="rId2" Type="http://schemas.openxmlformats.org/officeDocument/2006/relationships/slideLayout" Target="../slideLayouts/slideLayout1.xml" /><Relationship Id="rId1" Type="http://schemas.openxmlformats.org/officeDocument/2006/relationships/tags" Target="../tags/tag9.xml" /><Relationship Id="rId4" Type="http://schemas.openxmlformats.org/officeDocument/2006/relationships/image" Target="../media/image13.png" /></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 /><Relationship Id="rId2" Type="http://schemas.openxmlformats.org/officeDocument/2006/relationships/slideLayout" Target="../slideLayouts/slideLayout1.xml" /><Relationship Id="rId1" Type="http://schemas.openxmlformats.org/officeDocument/2006/relationships/tags" Target="../tags/tag10.xml" /></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 /><Relationship Id="rId2" Type="http://schemas.openxmlformats.org/officeDocument/2006/relationships/slideLayout" Target="../slideLayouts/slideLayout1.xml" /><Relationship Id="rId1" Type="http://schemas.openxmlformats.org/officeDocument/2006/relationships/tags" Target="../tags/tag11.xml" /><Relationship Id="rId5" Type="http://schemas.openxmlformats.org/officeDocument/2006/relationships/image" Target="../media/image15.jpeg" /><Relationship Id="rId4" Type="http://schemas.openxmlformats.org/officeDocument/2006/relationships/image" Target="../media/image14.jpeg" /></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 /><Relationship Id="rId2" Type="http://schemas.openxmlformats.org/officeDocument/2006/relationships/slideLayout" Target="../slideLayouts/slideLayout1.xml" /><Relationship Id="rId1" Type="http://schemas.openxmlformats.org/officeDocument/2006/relationships/tags" Target="../tags/tag12.xml" /><Relationship Id="rId4" Type="http://schemas.openxmlformats.org/officeDocument/2006/relationships/image" Target="../media/image15.jpeg" /></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 /><Relationship Id="rId2" Type="http://schemas.openxmlformats.org/officeDocument/2006/relationships/slideLayout" Target="../slideLayouts/slideLayout1.xml" /><Relationship Id="rId1" Type="http://schemas.openxmlformats.org/officeDocument/2006/relationships/tags" Target="../tags/tag13.xml" /><Relationship Id="rId4" Type="http://schemas.openxmlformats.org/officeDocument/2006/relationships/image" Target="../media/image16.png" /></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 /><Relationship Id="rId2" Type="http://schemas.openxmlformats.org/officeDocument/2006/relationships/slideLayout" Target="../slideLayouts/slideLayout1.xml" /><Relationship Id="rId1" Type="http://schemas.openxmlformats.org/officeDocument/2006/relationships/tags" Target="../tags/tag14.xml" /><Relationship Id="rId4" Type="http://schemas.openxmlformats.org/officeDocument/2006/relationships/image" Target="../media/image17.png" /></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 /><Relationship Id="rId2" Type="http://schemas.openxmlformats.org/officeDocument/2006/relationships/slideLayout" Target="../slideLayouts/slideLayout1.xml" /><Relationship Id="rId1" Type="http://schemas.openxmlformats.org/officeDocument/2006/relationships/tags" Target="../tags/tag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242356" y="2768041"/>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IN" sz="1200" b="1" dirty="0">
                <a:solidFill>
                  <a:srgbClr val="0D358D"/>
                </a:solidFill>
                <a:latin typeface="Arial" panose="020B0604020202020204" pitchFamily="34" charset="0"/>
                <a:ea typeface="Aileron Bold"/>
                <a:cs typeface="Arial" panose="020B0604020202020204" pitchFamily="34" charset="0"/>
                <a:sym typeface="Aileron Bold"/>
              </a:rPr>
              <a:t>PRACHI THAGELA </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IN" sz="1200" b="1" dirty="0">
                <a:solidFill>
                  <a:srgbClr val="0D358D"/>
                </a:solidFill>
                <a:latin typeface="Arial" panose="020B0604020202020204" pitchFamily="34" charset="0"/>
                <a:ea typeface="Aileron Bold"/>
                <a:cs typeface="Arial" panose="020B0604020202020204" pitchFamily="34" charset="0"/>
                <a:sym typeface="Aileron Bold"/>
              </a:rPr>
              <a:t>30093@arsd.du.ac.in</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IN" sz="1200" b="1" dirty="0">
                  <a:solidFill>
                    <a:srgbClr val="0D358D"/>
                  </a:solidFill>
                  <a:latin typeface="Arial" panose="020B0604020202020204" pitchFamily="34" charset="0"/>
                  <a:ea typeface="Aileron Bold"/>
                  <a:cs typeface="Arial" panose="020B0604020202020204" pitchFamily="34" charset="0"/>
                  <a:sym typeface="Aileron Bold"/>
                </a:rPr>
                <a:t>Uma </a:t>
              </a:r>
              <a:r>
                <a:rPr lang="en-IN" sz="1200" b="1" dirty="0" err="1">
                  <a:solidFill>
                    <a:srgbClr val="0D358D"/>
                  </a:solidFill>
                  <a:latin typeface="Arial" panose="020B0604020202020204" pitchFamily="34" charset="0"/>
                  <a:ea typeface="Aileron Bold"/>
                  <a:cs typeface="Arial" panose="020B0604020202020204" pitchFamily="34" charset="0"/>
                  <a:sym typeface="Aileron Bold"/>
                </a:rPr>
                <a:t>maheshwari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6" name="TextBox 25">
            <a:extLst>
              <a:ext uri="{FF2B5EF4-FFF2-40B4-BE49-F238E27FC236}">
                <a16:creationId xmlns:a16="http://schemas.microsoft.com/office/drawing/2014/main" id="{B0A0AFB0-97BC-AC42-AC2D-BE6A52EFE295}"/>
              </a:ext>
            </a:extLst>
          </p:cNvPr>
          <p:cNvSpPr txBox="1"/>
          <p:nvPr/>
        </p:nvSpPr>
        <p:spPr>
          <a:xfrm>
            <a:off x="106017" y="3206496"/>
            <a:ext cx="6444786" cy="369332"/>
          </a:xfrm>
          <a:prstGeom prst="rect">
            <a:avLst/>
          </a:prstGeom>
          <a:noFill/>
        </p:spPr>
        <p:txBody>
          <a:bodyPr wrap="square" rtlCol="0">
            <a:spAutoFit/>
          </a:bodyPr>
          <a:lstStyle/>
          <a:p>
            <a:pPr algn="l"/>
            <a:r>
              <a:rPr lang="en-IN" b="1" dirty="0"/>
              <a:t>Sales and business data cleaning and visualisation using excel</a:t>
            </a:r>
            <a:endParaRPr lang="en-US" b="1" dirty="0"/>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325609" y="1062824"/>
            <a:ext cx="5363991" cy="3795911"/>
          </a:xfrm>
          <a:prstGeom prst="rect">
            <a:avLst/>
          </a:prstGeom>
          <a:noFill/>
        </p:spPr>
        <p:txBody>
          <a:bodyPr wrap="square">
            <a:spAutoFit/>
          </a:bodyPr>
          <a:lstStyle/>
          <a:p>
            <a:pPr algn="just">
              <a:spcAft>
                <a:spcPts val="800"/>
              </a:spcAft>
              <a:tabLst>
                <a:tab pos="4229100" algn="ctr"/>
              </a:tabLst>
            </a:pPr>
            <a:endParaRPr lang="en-IN" sz="1800" dirty="0">
              <a:latin typeface="Lato" panose="020F0502020204030203" pitchFamily="34" charset="0"/>
              <a:ea typeface="+mn-lt"/>
              <a:cs typeface="Arial" panose="020B0604020202020204" pitchFamily="34" charset="0"/>
            </a:endParaRPr>
          </a:p>
          <a:p>
            <a:pPr algn="just">
              <a:spcAft>
                <a:spcPts val="800"/>
              </a:spcAft>
              <a:tabLst>
                <a:tab pos="4229100" algn="ctr"/>
              </a:tabLst>
            </a:pPr>
            <a:r>
              <a:rPr lang="en-IN" dirty="0">
                <a:latin typeface="Lato" panose="020F0502020204030203" pitchFamily="34" charset="0"/>
                <a:ea typeface="+mn-lt"/>
                <a:cs typeface="Arial" panose="020B0604020202020204" pitchFamily="34" charset="0"/>
              </a:rPr>
              <a:t>This project focuses on addressing data inefficiencies by cleaning and </a:t>
            </a:r>
            <a:r>
              <a:rPr lang="en-IN" dirty="0" err="1">
                <a:latin typeface="Lato" panose="020F0502020204030203" pitchFamily="34" charset="0"/>
                <a:ea typeface="+mn-lt"/>
                <a:cs typeface="Arial" panose="020B0604020202020204" pitchFamily="34" charset="0"/>
              </a:rPr>
              <a:t>analyzing</a:t>
            </a:r>
            <a:r>
              <a:rPr lang="en-IN" dirty="0">
                <a:latin typeface="Lato" panose="020F0502020204030203" pitchFamily="34" charset="0"/>
                <a:ea typeface="+mn-lt"/>
                <a:cs typeface="Arial" panose="020B0604020202020204" pitchFamily="34" charset="0"/>
              </a:rPr>
              <a:t> raw sales data that contains errors such as duplicates, missing values, and inconsistent formatting. The objective is to transform unstructured data into a reliable and organized format using Microsoft Excel tools like formulas, pivot tables, and charts. The project aims to generate meaningful insights on key business metrics such as revenue and average order value, demonstrating how effective data cleaning and visualization can improve decision-making.</a:t>
            </a: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5240" y="643889"/>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416320"/>
          </a:xfrm>
          <a:prstGeom prst="rect">
            <a:avLst/>
          </a:prstGeom>
          <a:noFill/>
        </p:spPr>
        <p:txBody>
          <a:bodyPr wrap="square">
            <a:spAutoFit/>
          </a:bodyPr>
          <a:lstStyle/>
          <a:p>
            <a:pPr algn="just">
              <a:spcAft>
                <a:spcPts val="800"/>
              </a:spcAft>
              <a:tabLst>
                <a:tab pos="4229100" algn="ctr"/>
              </a:tabLst>
            </a:pPr>
            <a:r>
              <a:rPr lang="en-US" dirty="0">
                <a:latin typeface="Lato" panose="020F0502020204030203" pitchFamily="34" charset="0"/>
                <a:ea typeface="+mn-lt"/>
                <a:cs typeface="Arial" panose="020B0604020202020204" pitchFamily="34" charset="0"/>
              </a:rPr>
              <a:t> </a:t>
            </a:r>
            <a:r>
              <a:rPr lang="en-IN" dirty="0">
                <a:latin typeface="Lato" panose="020F0502020204030203" pitchFamily="34" charset="0"/>
                <a:ea typeface="+mn-lt"/>
                <a:cs typeface="Arial" panose="020B0604020202020204" pitchFamily="34" charset="0"/>
              </a:rPr>
              <a:t>Businesses face inefficiencies due to poor-quality sales data containing duplicates, missing values, and inconsistent formats. This makes data analysis difficult and leads to inaccurate insights and delayed decision-making. The problem affects managers and analysts who rely on clean data for business decisions. Existing approaches are often manual and error-prone. This project focuses on cleaning and </a:t>
            </a:r>
            <a:r>
              <a:rPr lang="en-IN" dirty="0" err="1">
                <a:latin typeface="Lato" panose="020F0502020204030203" pitchFamily="34" charset="0"/>
                <a:ea typeface="+mn-lt"/>
                <a:cs typeface="Arial" panose="020B0604020202020204" pitchFamily="34" charset="0"/>
              </a:rPr>
              <a:t>analyzing</a:t>
            </a:r>
            <a:r>
              <a:rPr lang="en-IN" dirty="0">
                <a:latin typeface="Lato" panose="020F0502020204030203" pitchFamily="34" charset="0"/>
                <a:ea typeface="+mn-lt"/>
                <a:cs typeface="Arial" panose="020B0604020202020204" pitchFamily="34" charset="0"/>
              </a:rPr>
              <a:t> sales data using Microsoft Excel to improve data accuracy and generate reliable insights.</a:t>
            </a: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B2CD143B-69F7-0BCB-9A98-75CA3CA8A671}"/>
              </a:ext>
            </a:extLst>
          </p:cNvPr>
          <p:cNvSpPr txBox="1"/>
          <p:nvPr/>
        </p:nvSpPr>
        <p:spPr>
          <a:xfrm>
            <a:off x="274320" y="1495626"/>
            <a:ext cx="4572000" cy="2585323"/>
          </a:xfrm>
          <a:prstGeom prst="rect">
            <a:avLst/>
          </a:prstGeom>
          <a:noFill/>
        </p:spPr>
        <p:txBody>
          <a:bodyPr wrap="square">
            <a:spAutoFit/>
          </a:bodyPr>
          <a:lstStyle/>
          <a:p>
            <a:pPr algn="just"/>
            <a:r>
              <a:rPr lang="en-IN" dirty="0"/>
              <a:t>The solution involves cleaning and </a:t>
            </a:r>
            <a:r>
              <a:rPr lang="en-IN" dirty="0" err="1"/>
              <a:t>analyzing</a:t>
            </a:r>
            <a:r>
              <a:rPr lang="en-IN" dirty="0"/>
              <a:t> raw sales data to remove duplicates, fix inconsistencies, and handle missing values. Using Microsoft Excel, techniques like sorting, filtering, formulas, pivot tables, and charts are applied. This structured approach improves data accuracy, enables faster analysis, and helps generate reliable insights for better decision-making.</a:t>
            </a:r>
            <a:endParaRPr 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r>
              <a:rPr lang="en-IN" sz="1600" dirty="0">
                <a:latin typeface="Lato" panose="020F0502020204030203" pitchFamily="34" charset="0"/>
                <a:cs typeface="Arial" panose="020B0604020202020204" pitchFamily="34" charset="0"/>
              </a:rPr>
              <a:t>Microsoft </a:t>
            </a:r>
            <a:r>
              <a:rPr lang="en-IN" sz="1600" dirty="0" err="1">
                <a:latin typeface="Lato" panose="020F0502020204030203" pitchFamily="34" charset="0"/>
                <a:cs typeface="Arial" panose="020B0604020202020204" pitchFamily="34" charset="0"/>
              </a:rPr>
              <a:t>Copilot</a:t>
            </a:r>
            <a:r>
              <a:rPr lang="en-IN" sz="1600" dirty="0">
                <a:latin typeface="Lato" panose="020F0502020204030203" pitchFamily="34" charset="0"/>
                <a:cs typeface="Arial" panose="020B0604020202020204" pitchFamily="34" charset="0"/>
              </a:rPr>
              <a:t> in Excel is used to assist with formula generation, data cleaning, and quick insights. It helps automate tasks, improve accuracy, and speed up data analysis.</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5E11441D-459F-1B6E-CC66-03C9B9E91A16}"/>
              </a:ext>
            </a:extLst>
          </p:cNvPr>
          <p:cNvSpPr txBox="1"/>
          <p:nvPr/>
        </p:nvSpPr>
        <p:spPr>
          <a:xfrm>
            <a:off x="212548" y="1711979"/>
            <a:ext cx="4251960" cy="923330"/>
          </a:xfrm>
          <a:prstGeom prst="rect">
            <a:avLst/>
          </a:prstGeom>
          <a:noFill/>
        </p:spPr>
        <p:txBody>
          <a:bodyPr wrap="square">
            <a:spAutoFit/>
          </a:bodyPr>
          <a:lstStyle/>
          <a:p>
            <a:r>
              <a:rPr lang="en-IN"/>
              <a:t>The data is taken from a raw sales dataset in an Excel file, containing fields like Order ID, Date, Product, Quantity, and Revenue.</a:t>
            </a:r>
            <a:endParaRPr lang="en-US" dirty="0"/>
          </a:p>
        </p:txBody>
      </p:sp>
      <p:sp>
        <p:nvSpPr>
          <p:cNvPr id="5" name="TextBox 4">
            <a:extLst>
              <a:ext uri="{FF2B5EF4-FFF2-40B4-BE49-F238E27FC236}">
                <a16:creationId xmlns:a16="http://schemas.microsoft.com/office/drawing/2014/main" id="{2C62C68C-BEFA-8BC4-6F30-C49B37015521}"/>
              </a:ext>
            </a:extLst>
          </p:cNvPr>
          <p:cNvSpPr txBox="1"/>
          <p:nvPr/>
        </p:nvSpPr>
        <p:spPr>
          <a:xfrm>
            <a:off x="4670248" y="1627248"/>
            <a:ext cx="4656631" cy="1169551"/>
          </a:xfrm>
          <a:prstGeom prst="rect">
            <a:avLst/>
          </a:prstGeom>
          <a:noFill/>
        </p:spPr>
        <p:txBody>
          <a:bodyPr wrap="square">
            <a:spAutoFit/>
          </a:bodyPr>
          <a:lstStyle/>
          <a:p>
            <a:r>
              <a:rPr lang="en-IN" sz="1400" dirty="0"/>
              <a:t>The data is cleaned by removing duplicates, correcting inconsistencies, and handling missing values. It is then transformed using Excel formulas and proper formatting. Finally, pivot tables and charts are used to </a:t>
            </a:r>
            <a:r>
              <a:rPr lang="en-IN" sz="1400" dirty="0" err="1"/>
              <a:t>analyze</a:t>
            </a:r>
            <a:r>
              <a:rPr lang="en-IN" sz="1400" dirty="0"/>
              <a:t> the data and generate meaningful insights</a:t>
            </a:r>
            <a:endParaRPr lang="en-US" sz="1400" dirty="0"/>
          </a:p>
        </p:txBody>
      </p:sp>
      <p:sp>
        <p:nvSpPr>
          <p:cNvPr id="23" name="TextBox 22">
            <a:extLst>
              <a:ext uri="{FF2B5EF4-FFF2-40B4-BE49-F238E27FC236}">
                <a16:creationId xmlns:a16="http://schemas.microsoft.com/office/drawing/2014/main" id="{A29F2ADB-F96C-8F04-0876-E6B91C0C82B9}"/>
              </a:ext>
            </a:extLst>
          </p:cNvPr>
          <p:cNvSpPr txBox="1"/>
          <p:nvPr/>
        </p:nvSpPr>
        <p:spPr>
          <a:xfrm>
            <a:off x="4670248" y="3559751"/>
            <a:ext cx="4664764" cy="923330"/>
          </a:xfrm>
          <a:prstGeom prst="rect">
            <a:avLst/>
          </a:prstGeom>
          <a:noFill/>
        </p:spPr>
        <p:txBody>
          <a:bodyPr wrap="square">
            <a:spAutoFit/>
          </a:bodyPr>
          <a:lstStyle/>
          <a:p>
            <a:r>
              <a:rPr lang="en-IN" dirty="0"/>
              <a:t>An Excel dashboard with key metrics, charts, and pivot tables to visualize sales data and insights clearly</a:t>
            </a:r>
            <a:endParaRPr lang="en-US"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r>
              <a:rPr lang="en-IN" sz="1600" b="1" dirty="0">
                <a:latin typeface="Lato" panose="020F0502020204030203" pitchFamily="34" charset="0"/>
                <a:ea typeface="Calibri" pitchFamily="34" charset="-122"/>
                <a:cs typeface="Arial" panose="020B0604020202020204" pitchFamily="34" charset="0"/>
              </a:rPr>
              <a:t>- Dashboard </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r>
              <a:rPr lang="en-IN" sz="1600" b="1">
                <a:latin typeface="Lato" panose="020F0502020204030203" pitchFamily="34" charset="0"/>
                <a:ea typeface="Calibri" pitchFamily="34" charset="-122"/>
                <a:cs typeface="Arial" panose="020B0604020202020204" pitchFamily="34" charset="0"/>
              </a:rPr>
              <a:t>- formulas</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180746" y="3031822"/>
            <a:ext cx="2900016" cy="1371600"/>
          </a:xfrm>
          <a:prstGeom prst="rect">
            <a:avLst/>
          </a:prstGeom>
          <a:noFill/>
          <a:ln/>
        </p:spPr>
        <p:txBody>
          <a:bodyPr wrap="square" rtlCol="0" anchor="ctr"/>
          <a:lstStyle/>
          <a:p>
            <a:pPr marL="0" indent="0" algn="ctr">
              <a:buNone/>
            </a:pPr>
            <a:r>
              <a:rPr lang="en-IN" sz="1000" dirty="0">
                <a:latin typeface="Lato" panose="020F0502020204030203" pitchFamily="34" charset="0"/>
                <a:cs typeface="Arial" panose="020B0604020202020204" pitchFamily="34" charset="0"/>
              </a:rPr>
              <a:t>=SUM(range) – to calculate total revenue
=AVERAGE(range) – to find average order value
=IF(condition, </a:t>
            </a:r>
            <a:r>
              <a:rPr lang="en-IN" sz="1000" dirty="0" err="1">
                <a:latin typeface="Lato" panose="020F0502020204030203" pitchFamily="34" charset="0"/>
                <a:cs typeface="Arial" panose="020B0604020202020204" pitchFamily="34" charset="0"/>
              </a:rPr>
              <a:t>value_if_true</a:t>
            </a:r>
            <a:r>
              <a:rPr lang="en-IN" sz="1000" dirty="0">
                <a:latin typeface="Lato" panose="020F0502020204030203" pitchFamily="34" charset="0"/>
                <a:cs typeface="Arial" panose="020B0604020202020204" pitchFamily="34" charset="0"/>
              </a:rPr>
              <a:t>, </a:t>
            </a:r>
            <a:r>
              <a:rPr lang="en-IN" sz="1000" dirty="0" err="1">
                <a:latin typeface="Lato" panose="020F0502020204030203" pitchFamily="34" charset="0"/>
                <a:cs typeface="Arial" panose="020B0604020202020204" pitchFamily="34" charset="0"/>
              </a:rPr>
              <a:t>value_if_false</a:t>
            </a:r>
            <a:r>
              <a:rPr lang="en-IN" sz="1000" dirty="0">
                <a:latin typeface="Lato" panose="020F0502020204030203" pitchFamily="34" charset="0"/>
                <a:cs typeface="Arial" panose="020B0604020202020204" pitchFamily="34" charset="0"/>
              </a:rPr>
              <a:t>) – for logical checks
=VLOOKUP() / =XLOOKUP() – to fetch related data
=TRIM() – to remove extra spaces
=UPPER() / =LOWER() / =PROPER() – to standardize text
=COUNT() / =COUNTA() – to count entries
=IFERROR() – to handle errors in calculations</a:t>
            </a:r>
            <a:endParaRPr lang="en-US" sz="10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r>
              <a:rPr lang="en-IN" sz="1600" b="1" dirty="0">
                <a:latin typeface="Lato" panose="020F0502020204030203" pitchFamily="34" charset="0"/>
                <a:ea typeface="Calibri" pitchFamily="34" charset="-122"/>
                <a:cs typeface="Arial" panose="020B0604020202020204" pitchFamily="34" charset="0"/>
              </a:rPr>
              <a:t>- </a:t>
            </a:r>
            <a:r>
              <a:rPr lang="en-IN" sz="1600" b="1" dirty="0" err="1">
                <a:latin typeface="Lato" panose="020F0502020204030203" pitchFamily="34" charset="0"/>
                <a:ea typeface="Calibri" pitchFamily="34" charset="-122"/>
                <a:cs typeface="Arial" panose="020B0604020202020204" pitchFamily="34" charset="0"/>
              </a:rPr>
              <a:t>Copilot</a:t>
            </a:r>
            <a:r>
              <a:rPr lang="en-IN" sz="1600" b="1" dirty="0">
                <a:latin typeface="Lato" panose="020F0502020204030203" pitchFamily="34" charset="0"/>
                <a:ea typeface="Calibri" pitchFamily="34" charset="-122"/>
                <a:cs typeface="Arial" panose="020B0604020202020204" pitchFamily="34" charset="0"/>
              </a:rPr>
              <a:t> assistance </a:t>
            </a: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934F320F-853E-8FC9-ED50-E289FE45B133}"/>
              </a:ext>
            </a:extLst>
          </p:cNvPr>
          <p:cNvPicPr>
            <a:picLocks noChangeAspect="1"/>
          </p:cNvPicPr>
          <p:nvPr/>
        </p:nvPicPr>
        <p:blipFill>
          <a:blip r:embed="rId4"/>
          <a:stretch>
            <a:fillRect/>
          </a:stretch>
        </p:blipFill>
        <p:spPr>
          <a:xfrm>
            <a:off x="6153912" y="2841293"/>
            <a:ext cx="2788920" cy="2056505"/>
          </a:xfrm>
          <a:prstGeom prst="rect">
            <a:avLst/>
          </a:prstGeom>
        </p:spPr>
      </p:pic>
      <p:pic>
        <p:nvPicPr>
          <p:cNvPr id="8" name="Picture 7">
            <a:extLst>
              <a:ext uri="{FF2B5EF4-FFF2-40B4-BE49-F238E27FC236}">
                <a16:creationId xmlns:a16="http://schemas.microsoft.com/office/drawing/2014/main" id="{00B96897-3C70-6BEB-B4B6-50DABC84B8F2}"/>
              </a:ext>
            </a:extLst>
          </p:cNvPr>
          <p:cNvPicPr>
            <a:picLocks noChangeAspect="1"/>
          </p:cNvPicPr>
          <p:nvPr/>
        </p:nvPicPr>
        <p:blipFill>
          <a:blip r:embed="rId5"/>
          <a:stretch>
            <a:fillRect/>
          </a:stretch>
        </p:blipFill>
        <p:spPr>
          <a:xfrm>
            <a:off x="192024" y="3042207"/>
            <a:ext cx="2795680" cy="1646924"/>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Picture 1">
            <a:extLst>
              <a:ext uri="{FF2B5EF4-FFF2-40B4-BE49-F238E27FC236}">
                <a16:creationId xmlns:a16="http://schemas.microsoft.com/office/drawing/2014/main" id="{772B5A31-D5C6-D7C8-E292-7F32D50B2E05}"/>
              </a:ext>
            </a:extLst>
          </p:cNvPr>
          <p:cNvPicPr>
            <a:picLocks noChangeAspect="1"/>
          </p:cNvPicPr>
          <p:nvPr/>
        </p:nvPicPr>
        <p:blipFill>
          <a:blip r:embed="rId4"/>
          <a:stretch>
            <a:fillRect/>
          </a:stretch>
        </p:blipFill>
        <p:spPr>
          <a:xfrm>
            <a:off x="365760" y="1078992"/>
            <a:ext cx="8412480" cy="3584448"/>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97C7A276-2310-110B-0C67-4CC4A7761BF8}"/>
              </a:ext>
            </a:extLst>
          </p:cNvPr>
          <p:cNvSpPr txBox="1"/>
          <p:nvPr/>
        </p:nvSpPr>
        <p:spPr>
          <a:xfrm>
            <a:off x="265043" y="1002090"/>
            <a:ext cx="4885635" cy="3139321"/>
          </a:xfrm>
          <a:prstGeom prst="rect">
            <a:avLst/>
          </a:prstGeom>
          <a:noFill/>
        </p:spPr>
        <p:txBody>
          <a:bodyPr wrap="square">
            <a:spAutoFit/>
          </a:bodyPr>
          <a:lstStyle/>
          <a:p>
            <a:pPr>
              <a:buNone/>
            </a:pPr>
            <a:r>
              <a:rPr lang="en-IN" dirty="0"/>
              <a:t>This project demonstrated how raw sales data can be cleaned and </a:t>
            </a:r>
            <a:r>
              <a:rPr lang="en-IN" dirty="0" err="1"/>
              <a:t>analyzed</a:t>
            </a:r>
            <a:r>
              <a:rPr lang="en-IN" dirty="0"/>
              <a:t> using </a:t>
            </a:r>
            <a:r>
              <a:rPr lang="en-IN" b="1" dirty="0"/>
              <a:t>Excel with </a:t>
            </a:r>
            <a:r>
              <a:rPr lang="en-IN" b="1" dirty="0" err="1"/>
              <a:t>Copilot</a:t>
            </a:r>
            <a:r>
              <a:rPr lang="en-IN" dirty="0"/>
              <a:t>. Data inconsistencies were removed, and meaningful insights such as sales trends and top-performing products were identified using Pivot Tables and charts.</a:t>
            </a:r>
          </a:p>
          <a:p>
            <a:pPr>
              <a:buNone/>
            </a:pPr>
            <a:r>
              <a:rPr lang="en-IN" dirty="0"/>
              <a:t>All objectives were successfully achieved, and the use of AI tools improved efficiency and accuracy. The project highlights the importance of data cleaning and its role in effective business decision-making.</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E91C7A7D-8952-AE3B-8397-EFFBEB3BBCE6}"/>
              </a:ext>
            </a:extLst>
          </p:cNvPr>
          <p:cNvSpPr txBox="1"/>
          <p:nvPr/>
        </p:nvSpPr>
        <p:spPr>
          <a:xfrm>
            <a:off x="291548" y="1318525"/>
            <a:ext cx="4753114" cy="2585323"/>
          </a:xfrm>
          <a:prstGeom prst="rect">
            <a:avLst/>
          </a:prstGeom>
          <a:noFill/>
        </p:spPr>
        <p:txBody>
          <a:bodyPr wrap="square">
            <a:spAutoFit/>
          </a:bodyPr>
          <a:lstStyle/>
          <a:p>
            <a:r>
              <a:rPr lang="en-IN" dirty="0"/>
              <a:t>Use of </a:t>
            </a:r>
            <a:r>
              <a:rPr lang="en-IN" b="1" dirty="0"/>
              <a:t>Microsoft </a:t>
            </a:r>
            <a:r>
              <a:rPr lang="en-IN" b="1" dirty="0" err="1"/>
              <a:t>Copilot</a:t>
            </a:r>
            <a:r>
              <a:rPr lang="en-IN" b="1" dirty="0"/>
              <a:t> in Excel</a:t>
            </a:r>
            <a:r>
              <a:rPr lang="en-IN" dirty="0"/>
              <a:t> for automated data cleaning and insights Integration with </a:t>
            </a:r>
            <a:r>
              <a:rPr lang="en-IN" b="1" dirty="0"/>
              <a:t>real-time data sources</a:t>
            </a:r>
            <a:r>
              <a:rPr lang="en-IN" dirty="0"/>
              <a:t> ,Creation of </a:t>
            </a:r>
            <a:r>
              <a:rPr lang="en-IN" b="1" dirty="0"/>
              <a:t>interactive dashboards</a:t>
            </a:r>
            <a:r>
              <a:rPr lang="en-IN" dirty="0"/>
              <a:t> using advanced Excel features. Addition of </a:t>
            </a:r>
            <a:r>
              <a:rPr lang="en-IN" b="1" dirty="0"/>
              <a:t>customer data and profit analysis.</a:t>
            </a:r>
            <a:r>
              <a:rPr lang="en-IN" dirty="0"/>
              <a:t> </a:t>
            </a:r>
          </a:p>
          <a:p>
            <a:r>
              <a:rPr lang="en-IN" dirty="0"/>
              <a:t>This project has the potential to evolve into a scalable, AI-powered business analytics system with advanced visualization and predictive capabilities</a:t>
            </a:r>
            <a:endParaRPr lang="en-US"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468</Words>
  <Application>Microsoft Office PowerPoint</Application>
  <PresentationFormat>On-screen Show (16:9)</PresentationFormat>
  <Paragraphs>70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prachi thagela</cp:lastModifiedBy>
  <cp:revision>32</cp:revision>
  <dcterms:created xsi:type="dcterms:W3CDTF">2026-02-18T09:17:23Z</dcterms:created>
  <dcterms:modified xsi:type="dcterms:W3CDTF">2026-04-12T14:10:35Z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